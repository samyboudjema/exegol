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60" r:id="rId6"/>
    <p:sldId id="382" r:id="rId7"/>
    <p:sldId id="383" r:id="rId8"/>
    <p:sldId id="390" r:id="rId9"/>
    <p:sldId id="391" r:id="rId10"/>
    <p:sldId id="392" r:id="rId11"/>
    <p:sldId id="393" r:id="rId12"/>
    <p:sldId id="401" r:id="rId13"/>
    <p:sldId id="404" r:id="rId14"/>
    <p:sldId id="403" r:id="rId15"/>
    <p:sldId id="402" r:id="rId16"/>
    <p:sldId id="395" r:id="rId17"/>
    <p:sldId id="396" r:id="rId18"/>
    <p:sldId id="397" r:id="rId19"/>
    <p:sldId id="398" r:id="rId20"/>
    <p:sldId id="405" r:id="rId21"/>
    <p:sldId id="400" r:id="rId22"/>
    <p:sldId id="399" r:id="rId23"/>
    <p:sldId id="322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E36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302" autoAdjust="0"/>
  </p:normalViewPr>
  <p:slideViewPr>
    <p:cSldViewPr snapToGrid="0">
      <p:cViewPr varScale="1">
        <p:scale>
          <a:sx n="145" d="100"/>
          <a:sy n="145" d="100"/>
        </p:scale>
        <p:origin x="220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4FD4F-95F3-A74B-8A4B-EE088E8C534B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A0960-FB8E-DA4D-AF15-BE0965A8DF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5088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va parler des </a:t>
            </a:r>
            <a:r>
              <a:rPr lang="fr-FR" dirty="0" err="1"/>
              <a:t>shells</a:t>
            </a:r>
            <a:r>
              <a:rPr lang="fr-FR" dirty="0"/>
              <a:t>, </a:t>
            </a:r>
            <a:r>
              <a:rPr lang="fr-FR" dirty="0" err="1"/>
              <a:t>bindshell</a:t>
            </a:r>
            <a:r>
              <a:rPr lang="fr-FR" dirty="0"/>
              <a:t>, </a:t>
            </a:r>
            <a:r>
              <a:rPr lang="fr-FR" dirty="0" err="1"/>
              <a:t>revshell</a:t>
            </a:r>
            <a:r>
              <a:rPr lang="fr-FR" dirty="0"/>
              <a:t>, </a:t>
            </a:r>
            <a:r>
              <a:rPr lang="fr-FR" dirty="0" err="1"/>
              <a:t>meterpreter</a:t>
            </a:r>
            <a:r>
              <a:rPr lang="fr-FR" dirty="0"/>
              <a:t>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33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6E59-6135-AA6E-4CF2-41A97F2D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4FFE38-1B48-A053-307E-2FD2D1F2D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D9D9427-BFCD-AC1E-E116-67F694834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Site </a:t>
            </a:r>
            <a:r>
              <a:rPr lang="fr-FR" dirty="0" err="1"/>
              <a:t>upload</a:t>
            </a:r>
            <a:r>
              <a:rPr lang="fr-FR" dirty="0"/>
              <a:t> souvenez vous pour </a:t>
            </a:r>
            <a:r>
              <a:rPr lang="fr-FR" dirty="0" err="1"/>
              <a:t>upload</a:t>
            </a:r>
            <a:r>
              <a:rPr lang="fr-FR" dirty="0"/>
              <a:t> un fichier </a:t>
            </a:r>
            <a:r>
              <a:rPr lang="fr-FR" dirty="0" err="1"/>
              <a:t>php</a:t>
            </a:r>
            <a:r>
              <a:rPr lang="fr-FR" dirty="0"/>
              <a:t> (ils ont pas </a:t>
            </a:r>
            <a:r>
              <a:rPr lang="fr-FR" dirty="0" err="1"/>
              <a:t>reussi</a:t>
            </a:r>
            <a:r>
              <a:rPr lang="fr-FR" dirty="0"/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5B2357-0E0E-2AC0-D9FA-B17303D13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17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B218F-98ED-CA27-0186-C8C142647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A49DBE-F2B3-7FF1-71C7-05E7E96B0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C77D3F1-6A80-7830-0BA4-451222FFD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Rappel pour créer un </a:t>
            </a:r>
            <a:r>
              <a:rPr lang="fr-FR" dirty="0" err="1"/>
              <a:t>webshell</a:t>
            </a:r>
            <a:r>
              <a:rPr lang="fr-FR" dirty="0"/>
              <a:t> simple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564E26-9846-86D9-B991-AAB120F2C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035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832C-C4D8-14C9-87CE-F158F4F44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E48D5FB-EBC7-75DF-3ED8-AF745B181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BC35359-0FAF-0184-F218-CA54332EF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Rappel utilisation du </a:t>
            </a:r>
            <a:r>
              <a:rPr lang="fr-FR" dirty="0" err="1"/>
              <a:t>webshell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D8648E-511E-C21A-D0B4-685AB6B0F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6886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27D0-838A-F085-90A4-9F5F37DA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A91D4A3-1D4E-9DF7-AC65-9D37648FC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89EF16A-B950-374E-5C1E-FBFA71D5A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 – pas moyen de changer de </a:t>
            </a:r>
            <a:r>
              <a:rPr lang="fr-FR" dirty="0" err="1"/>
              <a:t>repertoire</a:t>
            </a:r>
            <a:r>
              <a:rPr lang="fr-FR" dirty="0"/>
              <a:t>, obligé de faire cd .. &amp;&amp; ls ou ls ../</a:t>
            </a:r>
          </a:p>
          <a:p>
            <a:r>
              <a:rPr lang="fr-FR" dirty="0"/>
              <a:t>2 – encodage, certaines commandes ne vont pas toujours marcher avec certains </a:t>
            </a:r>
            <a:r>
              <a:rPr lang="fr-FR" dirty="0" err="1"/>
              <a:t>caracteres</a:t>
            </a:r>
            <a:r>
              <a:rPr lang="fr-FR" dirty="0"/>
              <a:t> spéciaux</a:t>
            </a:r>
          </a:p>
          <a:p>
            <a:r>
              <a:rPr lang="fr-FR" dirty="0"/>
              <a:t>3 – blind, parfois vous ne verrez pas l’output de votre commande, ou alors vous ne verrez pas la sortie d’erreur, seulement les commandes qui fonctionnent</a:t>
            </a:r>
          </a:p>
          <a:p>
            <a:r>
              <a:rPr lang="fr-FR" dirty="0"/>
              <a:t>4 – </a:t>
            </a:r>
            <a:r>
              <a:rPr lang="fr-FR" dirty="0" err="1"/>
              <a:t>Privesc</a:t>
            </a:r>
            <a:r>
              <a:rPr lang="fr-FR" dirty="0"/>
              <a:t>, sans </a:t>
            </a:r>
            <a:r>
              <a:rPr lang="fr-FR" dirty="0" err="1"/>
              <a:t>shell</a:t>
            </a:r>
            <a:r>
              <a:rPr lang="fr-FR" dirty="0"/>
              <a:t> stables, certaines méthode de </a:t>
            </a:r>
            <a:r>
              <a:rPr lang="fr-FR" dirty="0" err="1"/>
              <a:t>privilege</a:t>
            </a:r>
            <a:r>
              <a:rPr lang="fr-FR" dirty="0"/>
              <a:t> </a:t>
            </a:r>
            <a:r>
              <a:rPr lang="fr-FR" dirty="0" err="1"/>
              <a:t>escalation</a:t>
            </a:r>
            <a:r>
              <a:rPr lang="fr-FR" dirty="0"/>
              <a:t> (a voir dans un prochain cours), ne fonctionneront pas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FF7161-A208-5CA4-8A3D-ADFD3056A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325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28EEC-A231-39FC-0B3B-FC12198C8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8FA6B27-6CF3-39B8-7667-0F88A766A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8EBC6FF-027F-C619-3608-4D65603FF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Webshell</a:t>
            </a:r>
            <a:r>
              <a:rPr lang="fr-FR" dirty="0"/>
              <a:t>, c’est nous qui demandons une requête au site web</a:t>
            </a:r>
          </a:p>
          <a:p>
            <a:r>
              <a:rPr lang="fr-FR" dirty="0" err="1"/>
              <a:t>Revshell</a:t>
            </a:r>
            <a:r>
              <a:rPr lang="fr-FR" dirty="0"/>
              <a:t>, on force le site a </a:t>
            </a:r>
            <a:r>
              <a:rPr lang="fr-FR" dirty="0" err="1"/>
              <a:t>cree</a:t>
            </a:r>
            <a:r>
              <a:rPr lang="fr-FR" dirty="0"/>
              <a:t> une connexion vers nous</a:t>
            </a:r>
          </a:p>
          <a:p>
            <a:endParaRPr lang="fr-FR" dirty="0"/>
          </a:p>
          <a:p>
            <a:r>
              <a:rPr lang="fr-FR" dirty="0"/>
              <a:t>Bypass de certaines règles de firewall, </a:t>
            </a:r>
            <a:r>
              <a:rPr lang="fr-FR" dirty="0" err="1"/>
              <a:t>etc</a:t>
            </a:r>
            <a:r>
              <a:rPr lang="fr-FR" dirty="0"/>
              <a:t> (plus de </a:t>
            </a:r>
            <a:r>
              <a:rPr lang="fr-FR" dirty="0" err="1"/>
              <a:t>details</a:t>
            </a:r>
            <a:r>
              <a:rPr lang="fr-FR" dirty="0"/>
              <a:t> dans les prochaines slides)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ADAEEA-F304-DCA3-8269-516977B6B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7527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C51D5-3FD8-38BC-5616-58011882D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AB8766D-F69E-C53B-84A9-DA2B2CE22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30C5229-0302-8CFF-BC64-FAF25A03A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magie est là (passer du temps sur cette slide)</a:t>
            </a:r>
          </a:p>
          <a:p>
            <a:endParaRPr lang="fr-FR" dirty="0"/>
          </a:p>
          <a:p>
            <a:r>
              <a:rPr lang="fr-FR" dirty="0"/>
              <a:t>Bash –i pour lancer un </a:t>
            </a:r>
            <a:r>
              <a:rPr lang="fr-FR" dirty="0" err="1"/>
              <a:t>bash</a:t>
            </a:r>
            <a:r>
              <a:rPr lang="fr-FR" dirty="0"/>
              <a:t> en interactif</a:t>
            </a:r>
          </a:p>
          <a:p>
            <a:r>
              <a:rPr lang="fr-FR" dirty="0"/>
              <a:t>&gt;&amp; pour redirige toutes les sorties (erreurs et normale) vers…</a:t>
            </a:r>
          </a:p>
          <a:p>
            <a:r>
              <a:rPr lang="fr-FR" dirty="0"/>
              <a:t>/dev/</a:t>
            </a:r>
            <a:r>
              <a:rPr lang="fr-FR" dirty="0" err="1"/>
              <a:t>tcp</a:t>
            </a:r>
            <a:r>
              <a:rPr lang="fr-FR" dirty="0"/>
              <a:t>/</a:t>
            </a:r>
            <a:r>
              <a:rPr lang="fr-FR" dirty="0" err="1"/>
              <a:t>ip</a:t>
            </a:r>
            <a:r>
              <a:rPr lang="fr-FR" dirty="0"/>
              <a:t>/port une adresse et un port donné -&gt; cette adresse doit être celle de votre machine, le port c’est ce que vous voulez, 80 ou 443 peuvent passer inaperçu des firewall, pour l’exo, peut importe</a:t>
            </a:r>
          </a:p>
          <a:p>
            <a:r>
              <a:rPr lang="fr-FR" dirty="0"/>
              <a:t>0&gt;&amp;1 redirige la sortie de ce que vous allez taper sur votre machine vers le ‘</a:t>
            </a:r>
            <a:r>
              <a:rPr lang="fr-FR" dirty="0" err="1"/>
              <a:t>bash</a:t>
            </a:r>
            <a:r>
              <a:rPr lang="fr-FR" dirty="0"/>
              <a:t> –i’ du serveur web</a:t>
            </a:r>
          </a:p>
          <a:p>
            <a:endParaRPr lang="fr-FR" dirty="0"/>
          </a:p>
          <a:p>
            <a:r>
              <a:rPr lang="fr-FR" dirty="0"/>
              <a:t>La boucle est bouclée, vous taper des commandes ls, cd </a:t>
            </a:r>
            <a:r>
              <a:rPr lang="fr-FR" dirty="0" err="1"/>
              <a:t>etc</a:t>
            </a:r>
            <a:r>
              <a:rPr lang="fr-FR" dirty="0"/>
              <a:t>, c’est envoyé sur le </a:t>
            </a:r>
            <a:r>
              <a:rPr lang="fr-FR" dirty="0" err="1"/>
              <a:t>bash</a:t>
            </a:r>
            <a:r>
              <a:rPr lang="fr-FR" dirty="0"/>
              <a:t> –i du serveur qui renvoie les résultats sur votre machine avec le &gt;&amp; /dev/bidule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47D31E-A849-F47D-BA22-D4CEEA8DF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473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E5B94-2230-AD98-BAFD-F39436E8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D8E466-BA82-37F1-6D13-FA839438F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4D8AE45-DC82-F512-508B-4F2B8844B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Nc</a:t>
            </a:r>
            <a:r>
              <a:rPr lang="fr-FR" dirty="0"/>
              <a:t> –e existe quasiment jamais mais on peux </a:t>
            </a:r>
            <a:r>
              <a:rPr lang="fr-FR" dirty="0" err="1"/>
              <a:t>upload</a:t>
            </a:r>
            <a:r>
              <a:rPr lang="fr-FR" dirty="0"/>
              <a:t> un binaire qui a cette option pour l’utiliser</a:t>
            </a:r>
          </a:p>
          <a:p>
            <a:endParaRPr lang="fr-FR" dirty="0"/>
          </a:p>
          <a:p>
            <a:r>
              <a:rPr lang="fr-FR" dirty="0"/>
              <a:t>L’autre c’est </a:t>
            </a:r>
            <a:r>
              <a:rPr lang="fr-FR" dirty="0" err="1"/>
              <a:t>mkfifo</a:t>
            </a:r>
            <a:r>
              <a:rPr lang="fr-FR" dirty="0"/>
              <a:t> qui créer un fichier « pipe » qui fait tunnel de base, puis on balance tout dans </a:t>
            </a:r>
            <a:r>
              <a:rPr lang="fr-FR" dirty="0" err="1"/>
              <a:t>nc</a:t>
            </a:r>
            <a:r>
              <a:rPr lang="fr-FR" dirty="0"/>
              <a:t> qui est sur la plupart des machines par </a:t>
            </a:r>
            <a:r>
              <a:rPr lang="fr-FR" dirty="0" err="1"/>
              <a:t>defaut</a:t>
            </a:r>
            <a:r>
              <a:rPr lang="fr-FR" dirty="0"/>
              <a:t> et on </a:t>
            </a:r>
            <a:r>
              <a:rPr lang="fr-FR" dirty="0" err="1"/>
              <a:t>redireige</a:t>
            </a:r>
            <a:r>
              <a:rPr lang="fr-FR" dirty="0"/>
              <a:t> tout dans le pipe et la boucle est bouclée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EEFD9E-28B4-B62E-98CE-59F8D5AA42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0511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9526-B4A3-90D3-986F-C3374CDBE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8FB9AD8-432B-D81F-4881-442CF96B8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3A1B747-A1DB-45DD-6C40-7BC1A8C71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Ces précédents </a:t>
            </a:r>
            <a:r>
              <a:rPr lang="fr-FR" dirty="0" err="1"/>
              <a:t>shells</a:t>
            </a:r>
            <a:r>
              <a:rPr lang="fr-FR" dirty="0"/>
              <a:t> et d’autres sur ce site revshells.com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96BF5E-E28C-C809-7433-ABD3F94F4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308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C02A0-59F2-85F2-D474-9F86D6842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B65A01-8076-A79B-753C-296B17AB0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F1061BE-1A64-FA56-D7F6-9A544F37F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Sur mssqlclient.py (ou </a:t>
            </a:r>
            <a:r>
              <a:rPr lang="fr-FR" dirty="0" err="1"/>
              <a:t>impacket-mssqlclient</a:t>
            </a:r>
            <a:r>
              <a:rPr lang="fr-FR" dirty="0"/>
              <a:t> pour les </a:t>
            </a:r>
            <a:r>
              <a:rPr lang="fr-FR" dirty="0" err="1"/>
              <a:t>kaliseux</a:t>
            </a:r>
            <a:r>
              <a:rPr lang="fr-FR" dirty="0"/>
              <a:t>) on peut faire </a:t>
            </a:r>
            <a:r>
              <a:rPr lang="fr-FR" dirty="0" err="1"/>
              <a:t>enum_impersonate</a:t>
            </a:r>
            <a:r>
              <a:rPr lang="fr-FR" dirty="0"/>
              <a:t> pour voir que notre user a le droit d’exécuter des commandes en tant que sa</a:t>
            </a:r>
          </a:p>
          <a:p>
            <a:endParaRPr lang="fr-FR" dirty="0"/>
          </a:p>
          <a:p>
            <a:r>
              <a:rPr lang="fr-FR" dirty="0"/>
              <a:t>Sa c’est system </a:t>
            </a:r>
            <a:r>
              <a:rPr lang="fr-FR" dirty="0" err="1"/>
              <a:t>administrator</a:t>
            </a:r>
            <a:r>
              <a:rPr lang="fr-FR" dirty="0"/>
              <a:t>, le chef de la base de données</a:t>
            </a:r>
          </a:p>
          <a:p>
            <a:endParaRPr lang="fr-FR" dirty="0"/>
          </a:p>
          <a:p>
            <a:r>
              <a:rPr lang="fr-FR" dirty="0"/>
              <a:t>Pourquoi ca nous </a:t>
            </a:r>
            <a:r>
              <a:rPr lang="fr-FR" dirty="0" err="1"/>
              <a:t>interesse</a:t>
            </a:r>
            <a:r>
              <a:rPr lang="fr-FR" dirty="0"/>
              <a:t> ? Prochaine slide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3A01B4-D78D-48DE-8C74-3A71D3DD5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4295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81F5-8319-5354-00CB-1DD1703A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4E91933-F893-F02F-166B-761FA7ADA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DE01CB3-5E0A-84A9-AA65-792D6386F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Sa peux utiliser </a:t>
            </a:r>
            <a:r>
              <a:rPr lang="fr-FR" dirty="0" err="1"/>
              <a:t>xp_cmdshell</a:t>
            </a:r>
            <a:endParaRPr lang="fr-FR" dirty="0"/>
          </a:p>
          <a:p>
            <a:endParaRPr lang="fr-FR" dirty="0"/>
          </a:p>
          <a:p>
            <a:r>
              <a:rPr lang="fr-FR" dirty="0"/>
              <a:t>On doit l’enable par </a:t>
            </a:r>
            <a:r>
              <a:rPr lang="fr-FR" dirty="0" err="1"/>
              <a:t>defaut</a:t>
            </a:r>
            <a:r>
              <a:rPr lang="fr-FR" dirty="0"/>
              <a:t> elle n’est pas activée heureusement</a:t>
            </a:r>
          </a:p>
          <a:p>
            <a:endParaRPr lang="fr-FR" dirty="0"/>
          </a:p>
          <a:p>
            <a:r>
              <a:rPr lang="fr-FR" dirty="0" err="1"/>
              <a:t>Xp_cmdshell</a:t>
            </a:r>
            <a:r>
              <a:rPr lang="fr-FR" dirty="0"/>
              <a:t> lance du </a:t>
            </a:r>
            <a:r>
              <a:rPr lang="fr-FR" dirty="0" err="1"/>
              <a:t>bash</a:t>
            </a:r>
            <a:r>
              <a:rPr lang="fr-FR" dirty="0"/>
              <a:t> dans mon </a:t>
            </a:r>
            <a:r>
              <a:rPr lang="fr-FR" dirty="0" err="1"/>
              <a:t>sql</a:t>
            </a:r>
            <a:r>
              <a:rPr lang="fr-FR" dirty="0"/>
              <a:t>, donc un </a:t>
            </a:r>
            <a:r>
              <a:rPr lang="fr-FR" dirty="0" err="1"/>
              <a:t>shell</a:t>
            </a:r>
            <a:endParaRPr lang="fr-FR" dirty="0"/>
          </a:p>
          <a:p>
            <a:r>
              <a:rPr lang="fr-FR" dirty="0"/>
              <a:t>Je peux m’en servir pour trouver le flag, ce n’est pas un </a:t>
            </a:r>
            <a:r>
              <a:rPr lang="fr-FR" dirty="0" err="1"/>
              <a:t>revshell</a:t>
            </a:r>
            <a:r>
              <a:rPr lang="fr-FR" dirty="0"/>
              <a:t> mais un </a:t>
            </a:r>
            <a:r>
              <a:rPr lang="fr-FR" dirty="0" err="1"/>
              <a:t>bindshell</a:t>
            </a:r>
            <a:r>
              <a:rPr lang="fr-FR" dirty="0"/>
              <a:t> (comme le </a:t>
            </a:r>
            <a:r>
              <a:rPr lang="fr-FR" dirty="0" err="1"/>
              <a:t>webshell</a:t>
            </a:r>
            <a:r>
              <a:rPr lang="fr-FR" dirty="0"/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C05560-C3A1-FC3D-BAFC-D24BE699A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457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10B3A-4339-1AF4-795A-1DD449098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9E330EC-0DA6-4E93-AEAC-5B06EA807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E816F27-BC92-517D-75EB-53B5572EC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Comment lancer avec </a:t>
            </a:r>
            <a:r>
              <a:rPr lang="fr-FR" dirty="0" err="1"/>
              <a:t>php</a:t>
            </a:r>
            <a:r>
              <a:rPr lang="fr-FR" dirty="0"/>
              <a:t> les </a:t>
            </a:r>
            <a:r>
              <a:rPr lang="fr-FR" dirty="0" err="1"/>
              <a:t>revshell</a:t>
            </a:r>
            <a:r>
              <a:rPr lang="fr-FR" dirty="0"/>
              <a:t> deux solutions :</a:t>
            </a:r>
          </a:p>
          <a:p>
            <a:endParaRPr lang="fr-FR" dirty="0"/>
          </a:p>
          <a:p>
            <a:r>
              <a:rPr lang="fr-FR" dirty="0"/>
              <a:t>Urlencode pour les caractères </a:t>
            </a:r>
            <a:r>
              <a:rPr lang="fr-FR" dirty="0" err="1"/>
              <a:t>chelou</a:t>
            </a:r>
            <a:r>
              <a:rPr lang="fr-FR" dirty="0"/>
              <a:t> (par exemple avec </a:t>
            </a:r>
            <a:r>
              <a:rPr lang="fr-FR" dirty="0" err="1"/>
              <a:t>curl</a:t>
            </a:r>
            <a:r>
              <a:rPr lang="fr-FR" dirty="0"/>
              <a:t> là)</a:t>
            </a:r>
          </a:p>
          <a:p>
            <a:endParaRPr lang="fr-FR" dirty="0"/>
          </a:p>
          <a:p>
            <a:r>
              <a:rPr lang="fr-FR" dirty="0"/>
              <a:t>Base64 marche mieux, j’encode le </a:t>
            </a:r>
            <a:r>
              <a:rPr lang="fr-FR" dirty="0" err="1"/>
              <a:t>payload</a:t>
            </a:r>
            <a:r>
              <a:rPr lang="fr-FR" dirty="0"/>
              <a:t> en base64 (n’importe quel </a:t>
            </a:r>
            <a:r>
              <a:rPr lang="fr-FR" dirty="0" err="1"/>
              <a:t>payload</a:t>
            </a:r>
            <a:r>
              <a:rPr lang="fr-FR" dirty="0"/>
              <a:t>), puis base64 –d pour </a:t>
            </a:r>
            <a:r>
              <a:rPr lang="fr-FR" dirty="0" err="1"/>
              <a:t>decode</a:t>
            </a:r>
            <a:r>
              <a:rPr lang="fr-FR" dirty="0"/>
              <a:t> et </a:t>
            </a:r>
            <a:r>
              <a:rPr lang="fr-FR" dirty="0" err="1"/>
              <a:t>bash</a:t>
            </a:r>
            <a:r>
              <a:rPr lang="fr-FR" dirty="0"/>
              <a:t> pour lancer la commande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2FF991-0E42-89E8-7C66-0A4F62CBF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743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D9E3A-A7BA-ECB8-C893-C9E993F6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7B6979-B2EF-833C-B88F-79156801F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68AC448-309D-A273-63E1-3D17EE0C2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Pentestmonkey</a:t>
            </a:r>
            <a:r>
              <a:rPr lang="fr-FR" dirty="0"/>
              <a:t> est un </a:t>
            </a:r>
            <a:r>
              <a:rPr lang="fr-FR" dirty="0" err="1"/>
              <a:t>webshell</a:t>
            </a:r>
            <a:r>
              <a:rPr lang="fr-FR" dirty="0"/>
              <a:t> natif en </a:t>
            </a:r>
            <a:r>
              <a:rPr lang="fr-FR" dirty="0" err="1"/>
              <a:t>php</a:t>
            </a:r>
            <a:r>
              <a:rPr lang="fr-FR" dirty="0"/>
              <a:t> qui lance direct un </a:t>
            </a:r>
            <a:r>
              <a:rPr lang="fr-FR" dirty="0" err="1"/>
              <a:t>revshell</a:t>
            </a:r>
            <a:r>
              <a:rPr lang="fr-FR" dirty="0"/>
              <a:t>, changez juste </a:t>
            </a:r>
            <a:r>
              <a:rPr lang="fr-FR" dirty="0" err="1"/>
              <a:t>l’ip</a:t>
            </a:r>
            <a:r>
              <a:rPr lang="fr-FR" dirty="0"/>
              <a:t> et le port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688638-6B7C-CC3A-4FC6-DFBC4C841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054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0A416-A9E7-7C24-4CB8-B9B6A1E9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1DF8BC-41CD-9419-6DA3-D0300148A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9FFF813-FDD5-0530-227F-7552A52CA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Windows c’est plus compliqué, voici les </a:t>
            </a:r>
            <a:r>
              <a:rPr lang="fr-FR" dirty="0" err="1"/>
              <a:t>payload</a:t>
            </a:r>
            <a:r>
              <a:rPr lang="fr-FR" dirty="0"/>
              <a:t>. Même idée, on fait un tunnel avec des sockets </a:t>
            </a:r>
            <a:r>
              <a:rPr lang="fr-FR" dirty="0" err="1"/>
              <a:t>windows</a:t>
            </a:r>
            <a:r>
              <a:rPr lang="fr-FR" dirty="0"/>
              <a:t>, on </a:t>
            </a:r>
            <a:r>
              <a:rPr lang="fr-FR" dirty="0" err="1"/>
              <a:t>ecrit</a:t>
            </a:r>
            <a:r>
              <a:rPr lang="fr-FR" dirty="0"/>
              <a:t> des trucs</a:t>
            </a:r>
          </a:p>
          <a:p>
            <a:endParaRPr lang="fr-FR" dirty="0"/>
          </a:p>
          <a:p>
            <a:r>
              <a:rPr lang="fr-FR" dirty="0"/>
              <a:t>Le deuxième est utilisé dans </a:t>
            </a:r>
            <a:r>
              <a:rPr lang="fr-FR" dirty="0" err="1"/>
              <a:t>xp_cmdshell</a:t>
            </a:r>
            <a:r>
              <a:rPr lang="fr-FR" dirty="0"/>
              <a:t> si vous voulez un vrai </a:t>
            </a:r>
            <a:r>
              <a:rPr lang="fr-FR" dirty="0" err="1"/>
              <a:t>shell</a:t>
            </a:r>
            <a:r>
              <a:rPr lang="fr-FR" dirty="0"/>
              <a:t> </a:t>
            </a:r>
            <a:r>
              <a:rPr lang="fr-FR" dirty="0" err="1"/>
              <a:t>powershell</a:t>
            </a:r>
            <a:r>
              <a:rPr lang="fr-FR" dirty="0"/>
              <a:t>, il utilise le base64 en UTF-16LE pour que </a:t>
            </a:r>
            <a:r>
              <a:rPr lang="fr-FR" dirty="0" err="1"/>
              <a:t>windows</a:t>
            </a:r>
            <a:r>
              <a:rPr lang="fr-FR" dirty="0"/>
              <a:t> comprenne et qu’on ait pas de </a:t>
            </a:r>
            <a:r>
              <a:rPr lang="fr-FR" dirty="0" err="1"/>
              <a:t>caractere</a:t>
            </a:r>
            <a:r>
              <a:rPr lang="fr-FR" dirty="0"/>
              <a:t> </a:t>
            </a:r>
            <a:r>
              <a:rPr lang="fr-FR" dirty="0" err="1"/>
              <a:t>embetant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D6279A-DD6F-5E45-4D5A-A2E52B9F3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878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C611E-803C-EACC-A1B0-E75AAB8C2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68A9C3-84AA-6456-FB1A-D223A22FB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91EDBB5-FEA9-52B9-3EB0-B1141648C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Avec python, je peux directement utiliser system ou </a:t>
            </a:r>
            <a:r>
              <a:rPr lang="fr-FR" dirty="0" err="1"/>
              <a:t>popen</a:t>
            </a:r>
            <a:r>
              <a:rPr lang="fr-FR" dirty="0"/>
              <a:t> pour lancer une commande </a:t>
            </a:r>
            <a:r>
              <a:rPr lang="fr-FR" dirty="0" err="1"/>
              <a:t>bash</a:t>
            </a:r>
            <a:endParaRPr lang="fr-FR" dirty="0"/>
          </a:p>
          <a:p>
            <a:endParaRPr lang="fr-FR" dirty="0"/>
          </a:p>
          <a:p>
            <a:r>
              <a:rPr lang="fr-FR" dirty="0"/>
              <a:t>Ou alors utiliser du python natif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301AEC-C008-E524-B3AE-FA27CFF44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8061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9B1E8-1516-AB85-5BE8-6B5AC6EF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DE2CA29-01DA-C048-335D-EA1A8B497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87D3563-D1A4-DC06-A27B-4FE2D3A6D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Avec Java, c’est </a:t>
            </a:r>
            <a:r>
              <a:rPr lang="fr-FR" dirty="0" err="1"/>
              <a:t>different</a:t>
            </a:r>
            <a:r>
              <a:rPr lang="fr-FR" dirty="0"/>
              <a:t>, on peut avoir une appli </a:t>
            </a:r>
            <a:r>
              <a:rPr lang="fr-FR" dirty="0" err="1"/>
              <a:t>tomcat</a:t>
            </a:r>
            <a:r>
              <a:rPr lang="fr-FR" dirty="0"/>
              <a:t> qui accepte un .</a:t>
            </a:r>
            <a:r>
              <a:rPr lang="fr-FR" dirty="0" err="1"/>
              <a:t>war</a:t>
            </a:r>
            <a:endParaRPr lang="fr-FR" dirty="0"/>
          </a:p>
          <a:p>
            <a:r>
              <a:rPr lang="fr-FR" dirty="0"/>
              <a:t>Un .</a:t>
            </a:r>
            <a:r>
              <a:rPr lang="fr-FR" dirty="0" err="1"/>
              <a:t>war</a:t>
            </a:r>
            <a:r>
              <a:rPr lang="fr-FR" dirty="0"/>
              <a:t> est une archive java qui peut contenir un </a:t>
            </a:r>
            <a:r>
              <a:rPr lang="fr-FR" dirty="0" err="1"/>
              <a:t>payload</a:t>
            </a:r>
            <a:r>
              <a:rPr lang="fr-FR" dirty="0"/>
              <a:t> java</a:t>
            </a:r>
          </a:p>
          <a:p>
            <a:endParaRPr lang="fr-FR" dirty="0"/>
          </a:p>
          <a:p>
            <a:r>
              <a:rPr lang="fr-FR" dirty="0"/>
              <a:t>C’est compliqué à faire à la main donc on utilise un outil: </a:t>
            </a:r>
            <a:r>
              <a:rPr lang="fr-FR" dirty="0" err="1"/>
              <a:t>msfvenom</a:t>
            </a:r>
            <a:r>
              <a:rPr lang="fr-FR" dirty="0"/>
              <a:t> qui nous permet de préciser le type de </a:t>
            </a:r>
            <a:r>
              <a:rPr lang="fr-FR" dirty="0" err="1"/>
              <a:t>shell</a:t>
            </a:r>
            <a:r>
              <a:rPr lang="fr-FR" dirty="0"/>
              <a:t> et le type d’architecture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9A0684-0036-D2FB-E9F9-8748FC9E3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274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5B3AC-94C7-1094-4E72-053F5813D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8D1B93-27D0-3FD5-D7FB-FCA72A1CB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F0BF29-8EA5-D256-01E7-ABCB32017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Langage de templating est jinja2 (</a:t>
            </a:r>
            <a:r>
              <a:rPr lang="fr-FR" dirty="0" err="1"/>
              <a:t>ajd</a:t>
            </a:r>
            <a:r>
              <a:rPr lang="fr-FR" dirty="0"/>
              <a:t> dans ce cours). Le 7*7 permet de s’</a:t>
            </a:r>
            <a:r>
              <a:rPr lang="fr-FR" dirty="0" err="1"/>
              <a:t>ssurer</a:t>
            </a:r>
            <a:r>
              <a:rPr lang="fr-FR" dirty="0"/>
              <a:t> du moteur de templating (handlebars, </a:t>
            </a:r>
            <a:r>
              <a:rPr lang="fr-FR" dirty="0" err="1"/>
              <a:t>thymeleaf</a:t>
            </a:r>
            <a:r>
              <a:rPr lang="fr-FR" dirty="0"/>
              <a:t>, jinja2, </a:t>
            </a:r>
            <a:r>
              <a:rPr lang="fr-FR" dirty="0" err="1"/>
              <a:t>etc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En gros, ça permet de faire des sites dynamiques qui sont </a:t>
            </a:r>
            <a:r>
              <a:rPr lang="fr-FR" dirty="0" err="1"/>
              <a:t>interpreté</a:t>
            </a:r>
            <a:r>
              <a:rPr lang="fr-FR" dirty="0"/>
              <a:t> en python</a:t>
            </a:r>
          </a:p>
          <a:p>
            <a:endParaRPr lang="fr-FR" dirty="0"/>
          </a:p>
          <a:p>
            <a:r>
              <a:rPr lang="fr-FR" dirty="0"/>
              <a:t>Plein de manière de l’exploiter, plein de gens qui ont trouver des moyens de faire des exploit</a:t>
            </a:r>
          </a:p>
          <a:p>
            <a:r>
              <a:rPr lang="fr-FR" dirty="0"/>
              <a:t>La </a:t>
            </a:r>
            <a:r>
              <a:rPr lang="fr-FR" dirty="0" err="1"/>
              <a:t>rce</a:t>
            </a:r>
            <a:r>
              <a:rPr lang="fr-FR" dirty="0"/>
              <a:t> peux se faire avec une des trois commandes, au choix, dans laquelle on peut </a:t>
            </a:r>
            <a:r>
              <a:rPr lang="fr-FR" dirty="0" err="1"/>
              <a:t>bindshell</a:t>
            </a:r>
            <a:r>
              <a:rPr lang="fr-FR" dirty="0"/>
              <a:t> ou même insérer un </a:t>
            </a:r>
            <a:r>
              <a:rPr lang="fr-FR" dirty="0" err="1"/>
              <a:t>revshell</a:t>
            </a:r>
            <a:r>
              <a:rPr lang="fr-FR" dirty="0"/>
              <a:t> à nouveau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9A7650-3882-C454-BACD-100D3DA85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35010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4178C-CEDE-CE18-4541-ECEC382B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34F8F3-0C44-C9B3-72D8-8AB260486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315F11F-2989-7D54-656F-BC2BD98BF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Stabiliser un </a:t>
            </a:r>
            <a:r>
              <a:rPr lang="fr-FR" dirty="0" err="1"/>
              <a:t>shell</a:t>
            </a:r>
            <a:r>
              <a:rPr lang="fr-FR" dirty="0"/>
              <a:t> est essentiel pour plusieurs raisons:</a:t>
            </a:r>
          </a:p>
          <a:p>
            <a:pPr marL="171450" indent="-171450">
              <a:buFontTx/>
              <a:buChar char="-"/>
            </a:pPr>
            <a:r>
              <a:rPr lang="fr-FR" dirty="0"/>
              <a:t>Pouvoir CTRL+C, et autres</a:t>
            </a:r>
          </a:p>
          <a:p>
            <a:pPr marL="171450" indent="-171450">
              <a:buFontTx/>
              <a:buChar char="-"/>
            </a:pPr>
            <a:r>
              <a:rPr lang="fr-FR" dirty="0"/>
              <a:t>Pouvoir avoir un vrai </a:t>
            </a:r>
            <a:r>
              <a:rPr lang="fr-FR" dirty="0" err="1"/>
              <a:t>tty</a:t>
            </a:r>
            <a:r>
              <a:rPr lang="fr-FR" dirty="0"/>
              <a:t>, pour faire des </a:t>
            </a:r>
            <a:r>
              <a:rPr lang="fr-FR" dirty="0" err="1"/>
              <a:t>sudo</a:t>
            </a:r>
            <a:r>
              <a:rPr lang="fr-FR" dirty="0"/>
              <a:t> –l ou autre</a:t>
            </a:r>
          </a:p>
          <a:p>
            <a:pPr marL="171450" indent="-171450">
              <a:buFontTx/>
              <a:buChar char="-"/>
            </a:pPr>
            <a:r>
              <a:rPr lang="fr-FR" dirty="0"/>
              <a:t>S’assurer que le </a:t>
            </a:r>
            <a:r>
              <a:rPr lang="fr-FR" dirty="0" err="1"/>
              <a:t>shell</a:t>
            </a:r>
            <a:r>
              <a:rPr lang="fr-FR" dirty="0"/>
              <a:t> ne plante pas, persistance</a:t>
            </a:r>
          </a:p>
          <a:p>
            <a:pPr marL="0" indent="0">
              <a:buFontTx/>
              <a:buNone/>
            </a:pPr>
            <a:endParaRPr lang="fr-FR" dirty="0"/>
          </a:p>
          <a:p>
            <a:pPr marL="0" indent="0">
              <a:buFontTx/>
              <a:buNone/>
            </a:pPr>
            <a:r>
              <a:rPr lang="fr-FR" dirty="0"/>
              <a:t>L’idée est la suivante:</a:t>
            </a:r>
          </a:p>
          <a:p>
            <a:pPr marL="0" indent="0">
              <a:buFontTx/>
              <a:buNone/>
            </a:pPr>
            <a:r>
              <a:rPr lang="fr-FR" dirty="0"/>
              <a:t>Python ou script pour démarrer un autre </a:t>
            </a:r>
            <a:r>
              <a:rPr lang="fr-FR" dirty="0" err="1"/>
              <a:t>shell</a:t>
            </a:r>
            <a:r>
              <a:rPr lang="fr-FR" dirty="0"/>
              <a:t> (d’autres techniques fonctionne)</a:t>
            </a:r>
          </a:p>
          <a:p>
            <a:pPr marL="0" indent="0">
              <a:buFontTx/>
              <a:buNone/>
            </a:pPr>
            <a:r>
              <a:rPr lang="fr-FR" dirty="0"/>
              <a:t>Export </a:t>
            </a:r>
            <a:r>
              <a:rPr lang="fr-FR" dirty="0" err="1"/>
              <a:t>term</a:t>
            </a:r>
            <a:r>
              <a:rPr lang="fr-FR" dirty="0"/>
              <a:t> pour avoir un vrai terminal</a:t>
            </a:r>
          </a:p>
          <a:p>
            <a:pPr marL="0" indent="0">
              <a:buFontTx/>
              <a:buNone/>
            </a:pPr>
            <a:r>
              <a:rPr lang="fr-FR" dirty="0"/>
              <a:t>CTRL+Z pour quitter le </a:t>
            </a:r>
            <a:r>
              <a:rPr lang="fr-FR" dirty="0" err="1"/>
              <a:t>revshell</a:t>
            </a:r>
            <a:r>
              <a:rPr lang="fr-FR" dirty="0"/>
              <a:t> et le mettre en background (ne marche pas sur </a:t>
            </a:r>
            <a:r>
              <a:rPr lang="fr-FR" dirty="0" err="1"/>
              <a:t>powershell</a:t>
            </a:r>
            <a:r>
              <a:rPr lang="fr-FR" dirty="0"/>
              <a:t>, faire </a:t>
            </a:r>
            <a:r>
              <a:rPr lang="fr-FR" dirty="0" err="1"/>
              <a:t>rlwrap</a:t>
            </a:r>
            <a:r>
              <a:rPr lang="fr-FR" dirty="0"/>
              <a:t> devant </a:t>
            </a:r>
            <a:r>
              <a:rPr lang="fr-FR" dirty="0" err="1"/>
              <a:t>nc</a:t>
            </a:r>
            <a:r>
              <a:rPr lang="fr-FR" dirty="0"/>
              <a:t> a la place)</a:t>
            </a:r>
          </a:p>
          <a:p>
            <a:pPr marL="0" indent="0">
              <a:buFontTx/>
              <a:buNone/>
            </a:pPr>
            <a:r>
              <a:rPr lang="fr-FR" dirty="0" err="1"/>
              <a:t>Stty</a:t>
            </a:r>
            <a:r>
              <a:rPr lang="fr-FR" dirty="0"/>
              <a:t> </a:t>
            </a:r>
            <a:r>
              <a:rPr lang="fr-FR" dirty="0" err="1"/>
              <a:t>raw</a:t>
            </a:r>
            <a:r>
              <a:rPr lang="fr-FR" dirty="0"/>
              <a:t> –</a:t>
            </a:r>
            <a:r>
              <a:rPr lang="fr-FR" dirty="0" err="1"/>
              <a:t>echo</a:t>
            </a:r>
            <a:r>
              <a:rPr lang="fr-FR" dirty="0"/>
              <a:t>; fg (efface les lignes en trop, ne renvoie pas le </a:t>
            </a:r>
            <a:r>
              <a:rPr lang="fr-FR" dirty="0" err="1"/>
              <a:t>CTRL+c</a:t>
            </a:r>
            <a:r>
              <a:rPr lang="fr-FR" dirty="0"/>
              <a:t> et autre a votre vrai </a:t>
            </a:r>
            <a:r>
              <a:rPr lang="fr-FR" dirty="0" err="1"/>
              <a:t>shell</a:t>
            </a:r>
            <a:r>
              <a:rPr lang="fr-FR" dirty="0"/>
              <a:t>, </a:t>
            </a:r>
            <a:r>
              <a:rPr lang="fr-FR" dirty="0" err="1"/>
              <a:t>etc</a:t>
            </a:r>
            <a:r>
              <a:rPr lang="fr-FR" dirty="0"/>
              <a:t>, et fg </a:t>
            </a:r>
            <a:r>
              <a:rPr lang="fr-FR" dirty="0" err="1"/>
              <a:t>foreground</a:t>
            </a:r>
            <a:r>
              <a:rPr lang="fr-FR" dirty="0"/>
              <a:t> renvoie sur le </a:t>
            </a:r>
            <a:r>
              <a:rPr lang="fr-FR" dirty="0" err="1"/>
              <a:t>revshell</a:t>
            </a:r>
            <a:r>
              <a:rPr lang="fr-FR" dirty="0"/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B896F9-66AB-26D8-36B5-A851440F3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0960-FB8E-DA4D-AF15-BE0965A8DFCC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323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11E58-F1CE-1958-3F53-403FD10E7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9D0CB81-05A6-7DFE-5CB6-2E12159B3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108A1F-5A4C-8BC1-A7BC-889D327C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79E0C5-8339-8CED-DDDE-7780887B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C3FC7D-94E0-1F97-44F9-04D26FC2E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682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AEDFAF-D4BE-C43F-367B-6405B603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B85524-8D9E-47A4-096D-36FCDEF83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07E590-04BF-0C21-D3D2-257A8D17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DCC756-98DB-FAEA-D76B-24980472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E2C043-13AD-3BCB-36F3-88488A8F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00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0B69E6-284B-7AA7-E54D-8932447EF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8EDFFC-E26E-813D-B70B-3762B41FE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C343BF-33CB-1800-6E0A-C7AE76FC4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FA8B5D-AEB0-F3CC-A482-5A023EF2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2F968F-CE27-9E1D-7C00-150D4CBF2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54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02C95B-E3CF-1EB8-0EA5-66EFB0F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66C945-DC4B-8F3B-9230-089422B5B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D58E845-FCEE-E843-3D53-36DA6C6A9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DD6DA7-9E2D-5F4B-B3D1-EE3D2E1A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ACD50F-5C5B-BE9B-B22A-2FC34854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9994E0-0464-66FA-091F-D66B7859A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603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4EAB05-4CF3-77C3-5799-353BFF18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2700F4-B69C-1062-6C62-D72980B74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E5635B-93F1-9397-A55C-F1CF18C7A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1BA75F2-42D4-8189-207A-D7C17D6F3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A0C33B-D916-50FE-AC32-35F61C31D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6A3545-9EC4-B499-099B-6EF9CE10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EC7CAF9-3E2E-FE34-B4C0-999A12BA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A8442C8-CF0C-7125-888A-EAB769AF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029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B74810-C7AC-8EE3-7CD0-2800E86A1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C8DE164-7882-1F88-7450-387FAF9B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4A8E54-F7D5-DD5D-38B4-4FE0B2609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974DB2E-418D-C205-85F9-F818C176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42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62D6769-8B7B-D06A-8EBD-7512F53E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C2CAFC7-58BB-939A-1D11-E3631556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85FD3-492B-74C8-3E9B-E4689C68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35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C6AA01-9C8B-3424-6F02-D3A18F10D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248007-D5EA-916B-2597-59E93921B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7E8CDA-2E3F-0756-00F1-40C104E66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797DF4A-8EB5-DCD2-1180-C17F23FDC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31288E-923C-D26B-D158-1988D206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0A36B2-AE3F-2026-701E-7237B78B2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028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74A592-205A-5D42-4BAB-BFBD9927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8D1DEF7-B649-174F-0424-27F72D2310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894EE9-7FD8-D819-51A7-4CC9A404B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F98415-C4B8-FEB5-76EF-A31ADA29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5E1197-16FB-AE86-3FAC-47ABC330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36B88-2DF5-E8F2-BCA5-B8465EB0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817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7910F2-5B5C-F269-88CF-EDD744DE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ACF40A6-D8D6-6EDD-B5AC-48F52872E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763819-471B-8BCB-0F41-9B255BA67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67EF04-4A0E-C876-697B-005A8A4F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412708-F3B8-D585-36FF-C58DEF26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83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6306718-1285-C090-C094-E259ACCBB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52483D-52DA-CFA6-EAEF-E9C5032D0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9F11DD-C1AC-C0B7-658F-1B27EE693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B9CD4A-B407-B6C1-A56D-6AF5DF4F1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E2AA8C-73C1-6168-0844-322C7168E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65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1887BD2-4709-C86B-35AF-F1844EF9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C1FB44-328B-7E5B-6996-1A04FE92B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5E9FE4-BB8D-9392-977B-4F84E7FA8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E8CE2-7EA8-F849-B172-6AB0F49C1D1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3E49B8-FB9A-E228-4B1A-D1A240A15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E6BBE1-5459-1F5F-977A-A7DE476DC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48342-AE9C-C14F-9751-698A5C782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35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4.emf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7C6E93B-C16C-14CD-8D04-D46C2C8449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AB637F3-C882-3F0F-3416-EB202826A110}"/>
              </a:ext>
            </a:extLst>
          </p:cNvPr>
          <p:cNvSpPr txBox="1"/>
          <p:nvPr/>
        </p:nvSpPr>
        <p:spPr>
          <a:xfrm>
            <a:off x="1" y="2879652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F7F7F7"/>
                </a:solidFill>
                <a:latin typeface="DM Sans 14pt" pitchFamily="2" charset="77"/>
              </a:rPr>
              <a:t>CAMPUSCYBER COURSE</a:t>
            </a:r>
            <a:br>
              <a:rPr lang="fr-FR" sz="5400" b="1" dirty="0">
                <a:solidFill>
                  <a:srgbClr val="F7F7F7"/>
                </a:solidFill>
                <a:latin typeface="DM Sans 14pt" pitchFamily="2" charset="77"/>
              </a:rPr>
            </a:br>
            <a:r>
              <a:rPr lang="fr-FR" sz="5400" b="1" dirty="0">
                <a:solidFill>
                  <a:srgbClr val="F7F7F7"/>
                </a:solidFill>
                <a:latin typeface="DM Sans 14pt" pitchFamily="2" charset="77"/>
              </a:rPr>
              <a:t>x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6B62A8F-AB88-976E-4F2F-AEF9DD377C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28" t="35369" r="16223" b="36140"/>
          <a:stretch/>
        </p:blipFill>
        <p:spPr>
          <a:xfrm>
            <a:off x="4046219" y="3846442"/>
            <a:ext cx="1837627" cy="773939"/>
          </a:xfrm>
          <a:prstGeom prst="rect">
            <a:avLst/>
          </a:prstGeom>
        </p:spPr>
      </p:pic>
      <p:pic>
        <p:nvPicPr>
          <p:cNvPr id="1028" name="Picture 4" descr="Ecole du numérique">
            <a:extLst>
              <a:ext uri="{FF2B5EF4-FFF2-40B4-BE49-F238E27FC236}">
                <a16:creationId xmlns:a16="http://schemas.microsoft.com/office/drawing/2014/main" id="{B1C024BE-45E7-03B7-088D-912301FB48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58" b="17172"/>
          <a:stretch/>
        </p:blipFill>
        <p:spPr bwMode="auto">
          <a:xfrm>
            <a:off x="6096000" y="3840661"/>
            <a:ext cx="2186976" cy="77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182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54E1F5C-2FBF-B73D-DCFB-32FFD60701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996DDA81-00B4-6DB1-3BB1-8527F8AB34CA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endParaRPr lang="fr-FR" sz="4000" b="1" dirty="0">
              <a:solidFill>
                <a:srgbClr val="F7F7F7"/>
              </a:solidFill>
              <a:latin typeface="DM Sans 14pt" pitchFamily="2" charset="77"/>
            </a:endParaRP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2C41D2F3-A89E-4EB7-7360-3D068D27340F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EDA2BB22-3538-4693-EA38-3A2D370E9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EBE643C-E414-2FA0-3555-232933642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205" y="1445154"/>
            <a:ext cx="4945117" cy="494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38FD918-D70F-C724-3397-EB47ED287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6959" y="2687566"/>
            <a:ext cx="2659845" cy="265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5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25F8E-6832-2893-E921-76C0FC561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774178C-CFDA-1F98-6272-3BE3F0C2E0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373072E2-F9F2-C534-348E-CAA3D095E6BA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Upload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(retour cours2)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AFFCE7B-7D5A-9BB3-76FD-E27E11B356F9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415A6F7E-8A1B-A5E7-C505-B5C4A6028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FA955888-6ACE-54A6-CFC7-93A21964F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10" name="Image 9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DBF3D308-B348-3856-94B4-9C41F4006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3957" y="1345746"/>
            <a:ext cx="9664086" cy="546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57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404FD-4B2F-70FB-0A57-60CD7A64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5C76AB3-BAEC-709C-A5BB-0EF3FF1A4E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C579ED4A-B48C-0E72-11BF-392C72C6B82D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Upload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webshell</a:t>
            </a:r>
            <a:endParaRPr lang="fr-FR" sz="4000" b="1" dirty="0">
              <a:solidFill>
                <a:srgbClr val="F7F7F7"/>
              </a:solidFill>
              <a:latin typeface="DM Sans 14pt" pitchFamily="2" charset="77"/>
            </a:endParaRP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14655E03-8AB8-05AF-53CD-551D9E9D3096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02F47F80-E5F2-404C-B0EE-BBD2E3FC0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DFA5A8F-7488-8E0D-6A7B-92AA7BE3D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8" name="Image 7" descr="Une image contenant capture d’écran, texte, Police&#10;&#10;Le contenu généré par l’IA peut être incorrect.">
            <a:extLst>
              <a:ext uri="{FF2B5EF4-FFF2-40B4-BE49-F238E27FC236}">
                <a16:creationId xmlns:a16="http://schemas.microsoft.com/office/drawing/2014/main" id="{6BC48CAE-381F-D2C6-34C3-5787E0D91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476135"/>
            <a:ext cx="12192000" cy="390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69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3BD17-ABEE-C390-4BAC-24805A75F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6AA321C-E241-E74B-6011-3CCB30E287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0B4CAA7C-CA67-4205-84B6-2A413166DEB4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Upload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PHP5?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425351E0-CD14-6392-0D39-66357C49D466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B3514514-1C18-B0D2-07FF-61DD924A3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AE6788E2-A899-848F-C1F6-0421DCACA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5" name="Image 4" descr="Une image contenant texte, Police, logiciel, ligne&#10;&#10;Le contenu généré par l’IA peut être incorrect.">
            <a:extLst>
              <a:ext uri="{FF2B5EF4-FFF2-40B4-BE49-F238E27FC236}">
                <a16:creationId xmlns:a16="http://schemas.microsoft.com/office/drawing/2014/main" id="{029C2A41-3674-6F62-C5BC-698A124D9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125" y="1975684"/>
            <a:ext cx="9795464" cy="348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81A07-2FD3-B691-F716-38C108AB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D58685F-4338-9C83-3C1F-D627FA63DE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2839113F-A052-6DD7-F72E-5C1CABF5B55B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Points faibles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webshell</a:t>
            </a:r>
            <a:endParaRPr lang="fr-FR" sz="4000" b="1" dirty="0">
              <a:solidFill>
                <a:srgbClr val="F7F7F7"/>
              </a:solidFill>
              <a:latin typeface="DM Sans 14pt" pitchFamily="2" charset="77"/>
            </a:endParaRP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FB3FA7E2-D968-C520-6B90-3FF3076701C9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761AC956-6922-F0CC-1B08-5DE2191E1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FA38CA9-BADE-5794-C894-3AC9AD778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85707D0-6E7B-88F1-F65B-39B5856EAC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0079" y="1751458"/>
            <a:ext cx="1748700" cy="17487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5275301-4ABA-6120-DC84-692F778ED5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335" y="4175594"/>
            <a:ext cx="1748700" cy="17487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2C31872-6122-8674-567F-643B18CE1E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857" y="1751458"/>
            <a:ext cx="1748700" cy="17487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B6A2380-1694-682D-3F7C-2DB7FB993A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7557" y="3842295"/>
            <a:ext cx="1748701" cy="174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2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77F6-D54F-B970-E168-08DE520C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CF0E1CA-A6B3-E9A9-F17F-C9A7DAFBD6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669FFB51-576D-8512-2DBA-2A834FB39509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Solution: Reverse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</a:t>
            </a:r>
            <a:endParaRPr lang="fr-FR" sz="4000" b="1" dirty="0">
              <a:solidFill>
                <a:srgbClr val="F7F7F7"/>
              </a:solidFill>
              <a:latin typeface="DM Sans 14pt" pitchFamily="2" charset="77"/>
            </a:endParaRP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91B1850B-965F-274B-45F5-1DBA265055BA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255AC3D4-1CA1-7006-F1E1-CFD520404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A2705D0-058B-2429-8911-C0AD1CE62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438" y="1761682"/>
            <a:ext cx="1837146" cy="183714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B3C36A5-9A50-5285-9EB2-39CA3A318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617" y="1761682"/>
            <a:ext cx="1837146" cy="183714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320542F-A5B6-8C76-000C-8A21363C55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437" y="4309841"/>
            <a:ext cx="1837146" cy="183714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770AF60-0999-F774-739F-552770E8B6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617" y="4309841"/>
            <a:ext cx="1837146" cy="1837146"/>
          </a:xfrm>
          <a:prstGeom prst="rect">
            <a:avLst/>
          </a:prstGeom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65FE0DF9-75BB-9ED9-8B2B-22AA527986E9}"/>
              </a:ext>
            </a:extLst>
          </p:cNvPr>
          <p:cNvSpPr/>
          <p:nvPr/>
        </p:nvSpPr>
        <p:spPr>
          <a:xfrm>
            <a:off x="3269972" y="2537751"/>
            <a:ext cx="5070764" cy="285008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84146721-BE41-C319-452A-13B77079EAE0}"/>
              </a:ext>
            </a:extLst>
          </p:cNvPr>
          <p:cNvSpPr/>
          <p:nvPr/>
        </p:nvSpPr>
        <p:spPr>
          <a:xfrm rot="10800000">
            <a:off x="3269972" y="5085910"/>
            <a:ext cx="5070764" cy="285008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B6AE927-7CE4-A57B-B8C8-52FA9C3C44E6}"/>
              </a:ext>
            </a:extLst>
          </p:cNvPr>
          <p:cNvSpPr txBox="1"/>
          <p:nvPr/>
        </p:nvSpPr>
        <p:spPr>
          <a:xfrm>
            <a:off x="3617315" y="2056348"/>
            <a:ext cx="9446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F7F7F7"/>
                </a:solidFill>
                <a:latin typeface="DM Sans 14pt" pitchFamily="2" charset="77"/>
              </a:rPr>
              <a:t>Webshell</a:t>
            </a:r>
            <a:r>
              <a:rPr lang="fr-FR" sz="2400" b="1" dirty="0">
                <a:solidFill>
                  <a:srgbClr val="F7F7F7"/>
                </a:solidFill>
                <a:latin typeface="DM Sans 14pt" pitchFamily="2" charset="77"/>
              </a:rPr>
              <a:t>: GET /shell.php?0=ls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420B64E-131F-29BF-80AA-AA37739E5C85}"/>
              </a:ext>
            </a:extLst>
          </p:cNvPr>
          <p:cNvSpPr txBox="1"/>
          <p:nvPr/>
        </p:nvSpPr>
        <p:spPr>
          <a:xfrm>
            <a:off x="3473044" y="4550331"/>
            <a:ext cx="9446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F7F7F7"/>
                </a:solidFill>
                <a:latin typeface="DM Sans 14pt" pitchFamily="2" charset="77"/>
              </a:rPr>
              <a:t>Revshell</a:t>
            </a:r>
            <a:r>
              <a:rPr lang="fr-FR" sz="2400" b="1" dirty="0">
                <a:solidFill>
                  <a:srgbClr val="F7F7F7"/>
                </a:solidFill>
                <a:latin typeface="DM Sans 14pt" pitchFamily="2" charset="77"/>
              </a:rPr>
              <a:t>: </a:t>
            </a:r>
            <a:r>
              <a:rPr lang="fr-FR" sz="2400" b="1" dirty="0" err="1">
                <a:solidFill>
                  <a:srgbClr val="F7F7F7"/>
                </a:solidFill>
                <a:latin typeface="DM Sans 14pt" pitchFamily="2" charset="77"/>
              </a:rPr>
              <a:t>nc</a:t>
            </a:r>
            <a:r>
              <a:rPr lang="fr-FR" sz="2400" b="1" dirty="0">
                <a:solidFill>
                  <a:srgbClr val="F7F7F7"/>
                </a:solidFill>
                <a:latin typeface="DM Sans 14pt" pitchFamily="2" charset="77"/>
              </a:rPr>
              <a:t> -e </a:t>
            </a:r>
            <a:r>
              <a:rPr lang="fr-FR" sz="2400" b="1" dirty="0" err="1">
                <a:solidFill>
                  <a:srgbClr val="F7F7F7"/>
                </a:solidFill>
                <a:latin typeface="DM Sans 14pt" pitchFamily="2" charset="77"/>
              </a:rPr>
              <a:t>bash</a:t>
            </a:r>
            <a:r>
              <a:rPr lang="fr-FR" sz="2400" b="1" dirty="0">
                <a:solidFill>
                  <a:srgbClr val="F7F7F7"/>
                </a:solidFill>
                <a:latin typeface="DM Sans 14pt" pitchFamily="2" charset="77"/>
              </a:rPr>
              <a:t> 10.10.10.5 4444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F60DBA7-1284-5277-E1AD-3FDB212CB3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4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44483-B7A6-28D9-6056-43D5A25D5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20A1E4A-FAE9-0F68-CC8B-648EF238D4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7126A532-F2DA-2357-2E08-1664D0E7C912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Revshell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La sorcellerie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84808525-96B6-E3D4-4B80-FC4913399B9D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7A6217EB-910D-3BCA-0621-8937FF73E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5932C81-AC01-2747-FD87-EDE9F962C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18" name="Image 1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4C434D4-95B1-14A5-5559-1C553A167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8847" y="765146"/>
            <a:ext cx="8218838" cy="2707054"/>
          </a:xfrm>
          <a:prstGeom prst="rect">
            <a:avLst/>
          </a:prstGeom>
        </p:spPr>
      </p:pic>
      <p:pic>
        <p:nvPicPr>
          <p:cNvPr id="22" name="Image 21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2F48347-DFD0-3465-AABA-F3ACCE6DC3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128" y="2288174"/>
            <a:ext cx="9048275" cy="500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78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F90CC-1E5F-A6FA-46CC-F3B7E4799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9CA4293-5371-D3A0-EE54-04661F4EBF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7C5EC51B-2BDB-0C19-281C-0A044B9ACB9C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Revshell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Les variantes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ED44E0CE-6416-9497-9FC0-F62771F4260E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14B95EBB-E7DA-AFB7-FB84-A03E1CC73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27B4B43-0012-1DEC-0AAD-4739526A1C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7" name="Image 6" descr="Une image contenant texte, capture d’écran, Police, horloge&#10;&#10;Le contenu généré par l’IA peut être incorrect.">
            <a:extLst>
              <a:ext uri="{FF2B5EF4-FFF2-40B4-BE49-F238E27FC236}">
                <a16:creationId xmlns:a16="http://schemas.microsoft.com/office/drawing/2014/main" id="{1352B3B9-9116-A1EB-F39C-64B7887AA2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4600" y="1157455"/>
            <a:ext cx="6477070" cy="3479191"/>
          </a:xfrm>
          <a:prstGeom prst="rect">
            <a:avLst/>
          </a:prstGeom>
        </p:spPr>
      </p:pic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AE553AD-112C-1F50-AB23-89490D7B6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084377"/>
            <a:ext cx="12192000" cy="311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8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E81DF-EBDF-7AA8-8898-7AF2B4D4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C8B4F77-4C06-F917-AAD2-8476B617A9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8423D328-08FA-164B-95A1-F97057659714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Revshell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revshells.com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E834BA76-B91B-3C35-89D2-1350E7D47777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8E230DFC-D822-794F-C17D-837382E4A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5C36F94-C7CE-A41A-BE0A-6D199BEA1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5" name="Image 4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8FD911F-BE11-4E5E-65EC-9EB0DDA8B5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733" y="1399112"/>
            <a:ext cx="8998661" cy="515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89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5723-DB58-59B5-56A0-630B39E47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DE12FCD-6C1E-9FF5-BF6A-2EDE4329D4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B02B3DE6-7584-D42B-0178-CF4AA7BEB817}"/>
              </a:ext>
            </a:extLst>
          </p:cNvPr>
          <p:cNvSpPr txBox="1"/>
          <p:nvPr/>
        </p:nvSpPr>
        <p:spPr>
          <a:xfrm>
            <a:off x="1325437" y="526898"/>
            <a:ext cx="94468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Bindshell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MSSQL - sa</a:t>
            </a:r>
          </a:p>
          <a:p>
            <a:endParaRPr lang="fr-FR" sz="4000" b="1" dirty="0">
              <a:solidFill>
                <a:srgbClr val="F7F7F7"/>
              </a:solidFill>
              <a:latin typeface="DM Sans 14pt" pitchFamily="2" charset="77"/>
            </a:endParaRP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A0BF4955-B65F-1F18-0D80-CFEC9A6C65EE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8714BE4E-8F21-6834-0C96-03E2DD9B1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7D94824-41A6-BA4F-0E6F-05A75F9CE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5" name="Image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86AD7FAA-294E-A65A-557D-EC4A69C71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653" y="625365"/>
            <a:ext cx="11164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71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C3E78-7742-FC74-6647-5B2C42B27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169E3F6-63F0-8618-6614-4E0D04CFA0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18FBE25A-DB8F-BBE0-18A0-F5A523EF07B6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Bindshell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MSSQL – RCE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97B95FAE-B726-8591-F812-141DBDA72D77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235BB6D8-E61E-14D8-41AA-A620EC17E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88F54E1-E54B-1A4E-254C-1D3DAF61D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5" name="Image 4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CFE4C1F6-EA71-7F92-CE25-EDD5C01EA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3738" y="804385"/>
            <a:ext cx="7844523" cy="658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00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3CB8D-8C00-2638-6A08-C7F36140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B35941-049C-385A-AF99-E2830F2CA9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69A66C91-2588-82A3-C09D-593B9D0878D8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Revshell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PHP ?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2403F0F8-8076-A4BE-6D3D-5747D337ACAA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2651059B-50E5-7A12-1569-59A2B26CB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734C90F-3B53-E781-F186-7D0CBECD4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5" name="Image 4" descr="Une image contenant capture d’écran, texte, Police&#10;&#10;Le contenu généré par l’IA peut être incorrect.">
            <a:extLst>
              <a:ext uri="{FF2B5EF4-FFF2-40B4-BE49-F238E27FC236}">
                <a16:creationId xmlns:a16="http://schemas.microsoft.com/office/drawing/2014/main" id="{C2DE4108-65C4-2196-0FB1-D9E3A35CD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77299"/>
            <a:ext cx="12192000" cy="3262313"/>
          </a:xfrm>
          <a:prstGeom prst="rect">
            <a:avLst/>
          </a:prstGeom>
        </p:spPr>
      </p:pic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8BC420A-8040-A61B-3B74-EF16694CE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187081"/>
            <a:ext cx="12192000" cy="326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87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7839-C1EC-8049-2DAF-8F6D63756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0D1E9E8-2FAE-1222-2718-985EF36DA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322282B9-C915-CA43-8820-496B04FB8571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Revshell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Pentestmonkey</a:t>
            </a:r>
            <a:endParaRPr lang="fr-FR" sz="4000" b="1" dirty="0">
              <a:solidFill>
                <a:srgbClr val="F7F7F7"/>
              </a:solidFill>
              <a:latin typeface="DM Sans 14pt" pitchFamily="2" charset="77"/>
            </a:endParaRP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A1E783BD-1420-5924-CDC6-79C963AEC662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66AB72FC-DA75-1ACC-2E5E-FE76B3AD9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D62D40F-F0D6-F069-C40B-2948BE1E9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5" name="Image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9DC35D7F-70FA-7B76-1D8A-1688B7C740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940" y="1491271"/>
            <a:ext cx="8919834" cy="511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09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52550-C2B7-9262-C245-11E72C94C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64B9B34-0DA3-594D-9489-56DD202878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6D3469E2-0954-6107-5AE3-8E2FA13CD0A0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Revshell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Windows?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EA8AFF7C-9D8E-9218-F07D-5A9959B10290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E03A0935-6412-D2D9-AE13-20D103A1E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9F3DA95-AC3B-7889-93E7-4AB5B80AF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5" name="Image 4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61F1F92-FB3B-B408-C0EC-0077EF2019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5938" y="2946433"/>
            <a:ext cx="7425836" cy="4409090"/>
          </a:xfrm>
          <a:prstGeom prst="rect">
            <a:avLst/>
          </a:prstGeom>
        </p:spPr>
      </p:pic>
      <p:pic>
        <p:nvPicPr>
          <p:cNvPr id="7" name="Image 6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A9E02560-4411-781D-46C1-73C730F714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5938" y="775441"/>
            <a:ext cx="7428536" cy="319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75880-E085-82C0-66E6-78BC38BAE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EA63970-AC76-FB00-54CB-B1C90BE3EC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B1663E78-EB22-AECB-FF41-7858B3465E6B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Revshell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python?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459641F-FACA-FDB8-E65F-E9E2E692EE7A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FFE62F9B-B47D-D204-F6BB-4FE66C7DF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CC851C1-E97D-DD46-8FC4-28CAD25DC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17BDFD8-D3B3-8D93-9C8C-B1458AA23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72" y="3190464"/>
            <a:ext cx="12192000" cy="3262313"/>
          </a:xfrm>
          <a:prstGeom prst="rect">
            <a:avLst/>
          </a:prstGeom>
        </p:spPr>
      </p:pic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35D8481-108C-1C33-C297-C756FFF784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72" y="1050309"/>
            <a:ext cx="12192000" cy="308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9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C0AC-E8DD-04CE-D056-43BD070B7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A60CCA5-4BBB-9753-C12B-FC5D2D35B0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013FEB8D-83DD-AB03-6B6A-3111F0801A51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Revshell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Java?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Msfvenom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?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2D26F848-C493-F96C-CBF1-E66FBD8C87FF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811EF3E0-C623-A9CA-3C03-2E01BB64A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4A850A6-83F0-AFA7-9531-F794B9CE5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6" name="Image 5" descr="Une image contenant texte, capture d’écran, Police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CEB4BCAE-4ADE-9642-315A-7F45FA53D8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678781"/>
            <a:ext cx="12192000" cy="350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07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61A1B-854F-2E3E-01BF-256C5B0A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B81564D-10F7-D42C-1829-35BA921895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8615FDCE-D1E2-EA0C-E2A6-4AED99A18E88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Revshell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: SSTI?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0F66EBDA-F72F-C991-123D-23592F457EE3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91B08F44-EBCE-4E54-A713-C241F24C0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07970D5-C19A-98C8-C06C-07B3F9C291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5" name="Image 4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DF255DAD-30D5-440C-3534-FDC52E6D8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590" y="526898"/>
            <a:ext cx="10852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84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16631-F562-CBD2-04BF-903EB5F2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390D183-F879-7154-1D0F-D1ACB9E5E4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432306F3-C112-58A6-F960-F13B1255CC79}"/>
              </a:ext>
            </a:extLst>
          </p:cNvPr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03 – </a:t>
            </a:r>
            <a:r>
              <a:rPr lang="fr-FR" sz="4000" b="1" dirty="0" err="1">
                <a:solidFill>
                  <a:srgbClr val="F7F7F7"/>
                </a:solidFill>
                <a:latin typeface="DM Sans 14pt" pitchFamily="2" charset="77"/>
              </a:rPr>
              <a:t>Shells</a:t>
            </a:r>
            <a:r>
              <a:rPr lang="fr-FR" sz="4000" b="1" dirty="0">
                <a:solidFill>
                  <a:srgbClr val="F7F7F7"/>
                </a:solidFill>
                <a:latin typeface="DM Sans 14pt" pitchFamily="2" charset="77"/>
              </a:rPr>
              <a:t> – Stabilisation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C359E6E4-1BB2-FCB2-A0B3-7A4C2E279825}"/>
              </a:ext>
            </a:extLst>
          </p:cNvPr>
          <p:cNvCxnSpPr>
            <a:cxnSpLocks/>
          </p:cNvCxnSpPr>
          <p:nvPr/>
        </p:nvCxnSpPr>
        <p:spPr>
          <a:xfrm flipH="1">
            <a:off x="0" y="880841"/>
            <a:ext cx="1223889" cy="0"/>
          </a:xfrm>
          <a:prstGeom prst="line">
            <a:avLst/>
          </a:prstGeom>
          <a:ln w="25400" cap="rnd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0CD6478B-966A-2F51-7560-C94A0AC7B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44" y="-342137"/>
            <a:ext cx="2571966" cy="25719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7B613B6-9329-4F15-4BB9-E4537280C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43024"/>
            <a:ext cx="1014976" cy="1014976"/>
          </a:xfrm>
          <a:prstGeom prst="rect">
            <a:avLst/>
          </a:prstGeom>
        </p:spPr>
      </p:pic>
      <p:pic>
        <p:nvPicPr>
          <p:cNvPr id="5" name="Image 4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E34A95C0-B16F-D86A-803B-6DCA3435A1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979" y="1462280"/>
            <a:ext cx="8035159" cy="4276525"/>
          </a:xfrm>
          <a:prstGeom prst="rect">
            <a:avLst/>
          </a:prstGeom>
        </p:spPr>
      </p:pic>
      <p:pic>
        <p:nvPicPr>
          <p:cNvPr id="7" name="Image 6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647779B0-62FC-83FF-F785-8C17195B30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57200" y="1354798"/>
            <a:ext cx="5946984" cy="449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6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7FCE-F4DF-C439-E121-19264FDA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83ECC30-17F5-C689-DD23-CC5D66D454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E933EFA3-0CA2-F2DB-B5B6-76598A31EA9B}"/>
              </a:ext>
            </a:extLst>
          </p:cNvPr>
          <p:cNvGrpSpPr/>
          <p:nvPr/>
        </p:nvGrpSpPr>
        <p:grpSpPr>
          <a:xfrm>
            <a:off x="1" y="815182"/>
            <a:ext cx="12192000" cy="1754326"/>
            <a:chOff x="1" y="2879652"/>
            <a:chExt cx="12192000" cy="1754326"/>
          </a:xfrm>
        </p:grpSpPr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3B1BA3B1-9E0C-AD94-848D-2A8CC5F0DB90}"/>
                </a:ext>
              </a:extLst>
            </p:cNvPr>
            <p:cNvSpPr txBox="1"/>
            <p:nvPr/>
          </p:nvSpPr>
          <p:spPr>
            <a:xfrm>
              <a:off x="1" y="2879652"/>
              <a:ext cx="121920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400" b="1" dirty="0">
                  <a:solidFill>
                    <a:srgbClr val="F7F7F7"/>
                  </a:solidFill>
                  <a:latin typeface="DM Sans 14pt" pitchFamily="2" charset="77"/>
                </a:rPr>
                <a:t>CAMPUSCYBER COURSE</a:t>
              </a:r>
              <a:br>
                <a:rPr lang="fr-FR" sz="5400" b="1" dirty="0">
                  <a:solidFill>
                    <a:srgbClr val="F7F7F7"/>
                  </a:solidFill>
                  <a:latin typeface="DM Sans 14pt" pitchFamily="2" charset="77"/>
                </a:rPr>
              </a:br>
              <a:r>
                <a:rPr lang="fr-FR" sz="5400" b="1" dirty="0">
                  <a:solidFill>
                    <a:srgbClr val="F7F7F7"/>
                  </a:solidFill>
                  <a:latin typeface="DM Sans 14pt" pitchFamily="2" charset="77"/>
                </a:rPr>
                <a:t>x</a:t>
              </a:r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E1F29FAF-C9A0-B3A7-4318-C985F2173E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6128" t="35369" r="16223" b="36140"/>
            <a:stretch/>
          </p:blipFill>
          <p:spPr>
            <a:xfrm>
              <a:off x="4046219" y="3846442"/>
              <a:ext cx="1837627" cy="773939"/>
            </a:xfrm>
            <a:prstGeom prst="rect">
              <a:avLst/>
            </a:prstGeom>
          </p:spPr>
        </p:pic>
        <p:pic>
          <p:nvPicPr>
            <p:cNvPr id="1028" name="Picture 4" descr="Ecole du numérique">
              <a:extLst>
                <a:ext uri="{FF2B5EF4-FFF2-40B4-BE49-F238E27FC236}">
                  <a16:creationId xmlns:a16="http://schemas.microsoft.com/office/drawing/2014/main" id="{1C59CDDF-633D-2DDB-0E7B-8CC6784217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358" b="17172"/>
            <a:stretch/>
          </p:blipFill>
          <p:spPr bwMode="auto">
            <a:xfrm>
              <a:off x="6096000" y="3840661"/>
              <a:ext cx="2186976" cy="779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46633F97-5E8C-D82D-542D-DF3FBA88A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668" y="4255295"/>
            <a:ext cx="2402824" cy="2402824"/>
          </a:xfrm>
          <a:prstGeom prst="rect">
            <a:avLst/>
          </a:prstGeom>
        </p:spPr>
      </p:pic>
      <p:pic>
        <p:nvPicPr>
          <p:cNvPr id="6" name="Picture 6" descr="Meet with Hack The Box at Black Hat Europe">
            <a:extLst>
              <a:ext uri="{FF2B5EF4-FFF2-40B4-BE49-F238E27FC236}">
                <a16:creationId xmlns:a16="http://schemas.microsoft.com/office/drawing/2014/main" id="{1A69326D-766C-A792-3356-15DD899BD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97" y="2555911"/>
            <a:ext cx="2571966" cy="132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 descr="Une image contenant motif, carré, pixel&#10;&#10;Le contenu généré par l’IA peut être incorrect.">
            <a:extLst>
              <a:ext uri="{FF2B5EF4-FFF2-40B4-BE49-F238E27FC236}">
                <a16:creationId xmlns:a16="http://schemas.microsoft.com/office/drawing/2014/main" id="{39098E42-E757-1DBD-2BD9-EE2A718A78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508" y="4302149"/>
            <a:ext cx="2402824" cy="2402824"/>
          </a:xfrm>
          <a:prstGeom prst="rect">
            <a:avLst/>
          </a:prstGeom>
        </p:spPr>
      </p:pic>
      <p:pic>
        <p:nvPicPr>
          <p:cNvPr id="2052" name="Picture 4" descr="Discord Logo - Télécharger PNG et vecteur">
            <a:extLst>
              <a:ext uri="{FF2B5EF4-FFF2-40B4-BE49-F238E27FC236}">
                <a16:creationId xmlns:a16="http://schemas.microsoft.com/office/drawing/2014/main" id="{AAF0B9B6-2BBD-5DD1-223B-65FFE0466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609" y="2569508"/>
            <a:ext cx="1324621" cy="1324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6165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8BC58B66579A489CF09B0674C28B96" ma:contentTypeVersion="4" ma:contentTypeDescription="Crée un document." ma:contentTypeScope="" ma:versionID="5f3ed67741f44669fc4076fe7d679ccf">
  <xsd:schema xmlns:xsd="http://www.w3.org/2001/XMLSchema" xmlns:xs="http://www.w3.org/2001/XMLSchema" xmlns:p="http://schemas.microsoft.com/office/2006/metadata/properties" xmlns:ns2="7a48a24d-c035-4fae-b6cb-60cc5951b450" targetNamespace="http://schemas.microsoft.com/office/2006/metadata/properties" ma:root="true" ma:fieldsID="01e8f7ba8fd2f820de060e326812de08" ns2:_="">
    <xsd:import namespace="7a48a24d-c035-4fae-b6cb-60cc5951b4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8a24d-c035-4fae-b6cb-60cc5951b4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0DEAD5-FED7-4C06-A4ED-444C4CEB18A0}"/>
</file>

<file path=customXml/itemProps2.xml><?xml version="1.0" encoding="utf-8"?>
<ds:datastoreItem xmlns:ds="http://schemas.openxmlformats.org/officeDocument/2006/customXml" ds:itemID="{99238B7E-B4EC-4F23-95AC-103190E6D060}">
  <ds:schemaRefs>
    <ds:schemaRef ds:uri="http://schemas.microsoft.com/office/2006/metadata/properties"/>
    <ds:schemaRef ds:uri="http://schemas.microsoft.com/office/infopath/2007/PartnerControls"/>
    <ds:schemaRef ds:uri="3123fa75-11d6-44df-b326-041f939666c2"/>
    <ds:schemaRef ds:uri="b7f6cee4-8483-4e73-b49a-f712ef374a22"/>
  </ds:schemaRefs>
</ds:datastoreItem>
</file>

<file path=customXml/itemProps3.xml><?xml version="1.0" encoding="utf-8"?>
<ds:datastoreItem xmlns:ds="http://schemas.openxmlformats.org/officeDocument/2006/customXml" ds:itemID="{77B6C551-6FE4-4107-BD9A-6A6B0C2A5E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22082</TotalTime>
  <Words>1080</Words>
  <Application>Microsoft Office PowerPoint</Application>
  <PresentationFormat>Grand écran</PresentationFormat>
  <Paragraphs>107</Paragraphs>
  <Slides>20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DM Sans 14pt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Marie Minchella</dc:creator>
  <cp:lastModifiedBy>Gabriel MADELAINE-TOUBLANC</cp:lastModifiedBy>
  <cp:revision>30</cp:revision>
  <dcterms:created xsi:type="dcterms:W3CDTF">2024-02-23T15:00:05Z</dcterms:created>
  <dcterms:modified xsi:type="dcterms:W3CDTF">2025-02-14T14:40:27Z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101400.000000000</vt:lpwstr>
  </property>
  <property fmtid="{D5CDD505-2E9C-101B-9397-08002B2CF9AE}" pid="3" name="ContentTypeId">
    <vt:lpwstr>0x0101006F8BC58B66579A489CF09B0674C28B96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